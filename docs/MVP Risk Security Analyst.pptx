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DAB66-CFA2-93DA-6AE9-A511C59964CB}" v="633" dt="2025-12-22T22:03:22.214"/>
    <p1510:client id="{FFF47B4D-9F1E-944E-AB02-6FD6BABC2D8A}" v="38" dt="2025-12-22T21:20:32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46" y="-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8B1D5D-793D-9782-177F-00CAF2311F65}"/>
              </a:ext>
            </a:extLst>
          </p:cNvPr>
          <p:cNvSpPr txBox="1"/>
          <p:nvPr/>
        </p:nvSpPr>
        <p:spPr>
          <a:xfrm>
            <a:off x="2577063" y="80934"/>
            <a:ext cx="714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latin typeface="Aharoni" panose="02010803020104030203" pitchFamily="2" charset="-79"/>
                <a:cs typeface="Aharoni" panose="02010803020104030203" pitchFamily="2" charset="-79"/>
              </a:rPr>
              <a:t>PRELIMINARY RISK &amp; SECURITY LOG</a:t>
            </a:r>
            <a:endParaRPr lang="en-US" sz="3200" b="1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DCDC08-B795-91DB-B986-31643B05B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880405"/>
              </p:ext>
            </p:extLst>
          </p:nvPr>
        </p:nvGraphicFramePr>
        <p:xfrm>
          <a:off x="1349828" y="2985738"/>
          <a:ext cx="9601200" cy="2286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401160253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8677935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893289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Score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Likelihood (1-5)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Impact (1-5)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59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1-4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Low:</a:t>
                      </a:r>
                      <a:r>
                        <a:rPr lang="en-GB">
                          <a:effectLst/>
                          <a:latin typeface="Google Sans Text"/>
                        </a:rPr>
                        <a:t> Keep under review.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Minor:</a:t>
                      </a:r>
                      <a:r>
                        <a:rPr lang="en-GB">
                          <a:effectLst/>
                          <a:latin typeface="Google Sans Text"/>
                        </a:rPr>
                        <a:t> Inconvenient but not critical.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07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5-12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Medium:</a:t>
                      </a:r>
                      <a:r>
                        <a:rPr lang="en-GB">
                          <a:effectLst/>
                          <a:latin typeface="Google Sans Text"/>
                        </a:rPr>
                        <a:t> Needs a plan.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Moderate:</a:t>
                      </a:r>
                      <a:r>
                        <a:rPr lang="en-GB">
                          <a:effectLst/>
                          <a:latin typeface="Google Sans Text"/>
                        </a:rPr>
                        <a:t> Requires changes to design/code.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285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15-25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High/Extreme:</a:t>
                      </a:r>
                      <a:r>
                        <a:rPr lang="en-GB">
                          <a:effectLst/>
                          <a:latin typeface="Google Sans Text"/>
                        </a:rPr>
                        <a:t> Urgent action required.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Catastrophic:</a:t>
                      </a:r>
                      <a:r>
                        <a:rPr lang="en-GB">
                          <a:effectLst/>
                          <a:latin typeface="Google Sans Text"/>
                        </a:rPr>
                        <a:t> Project failure / Data Breach.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03054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29CFE50-2DE0-5BAA-CE28-9F575A010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771" y="1706008"/>
            <a:ext cx="452845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PART 1: RISK ASSESSMENT KEY</a:t>
            </a:r>
            <a:endParaRPr lang="en-US" altLang="en-US" sz="2000" b="1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 this standard key to score your risks.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7AAE8-44D0-1DFD-AEE4-7E34F525B456}"/>
              </a:ext>
            </a:extLst>
          </p:cNvPr>
          <p:cNvSpPr txBox="1"/>
          <p:nvPr/>
        </p:nvSpPr>
        <p:spPr>
          <a:xfrm>
            <a:off x="708388" y="5667712"/>
            <a:ext cx="62484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cs typeface="Arial"/>
              </a:rPr>
              <a:t>Student Name: John Preddy</a:t>
            </a:r>
          </a:p>
          <a:p>
            <a:r>
              <a:rPr lang="en-US" sz="2000" b="1" dirty="0">
                <a:latin typeface="Arial"/>
                <a:cs typeface="Arial"/>
              </a:rPr>
              <a:t>Role: Security analyst</a:t>
            </a:r>
          </a:p>
          <a:p>
            <a:r>
              <a:rPr lang="en-US" sz="2000" b="1" dirty="0">
                <a:latin typeface="Arial"/>
                <a:cs typeface="Arial"/>
              </a:rPr>
              <a:t>Group Name: </a:t>
            </a:r>
            <a:r>
              <a:rPr lang="en-US" sz="2000" b="1" dirty="0" err="1">
                <a:latin typeface="Arial"/>
                <a:cs typeface="Arial"/>
              </a:rPr>
              <a:t>MakeCents</a:t>
            </a:r>
            <a:endParaRPr lang="en-US" sz="20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001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549E7E-C0E7-BA24-37B6-117584C53232}"/>
              </a:ext>
            </a:extLst>
          </p:cNvPr>
          <p:cNvSpPr txBox="1"/>
          <p:nvPr/>
        </p:nvSpPr>
        <p:spPr>
          <a:xfrm>
            <a:off x="832994" y="4980191"/>
            <a:ext cx="5701748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  <a:latin typeface="Arial"/>
                <a:cs typeface="Arial"/>
              </a:rPr>
              <a:t>Risk Score = Likelihood x Impact</a:t>
            </a:r>
          </a:p>
          <a:p>
            <a:endParaRPr lang="en-GB" sz="2000" b="1">
              <a:solidFill>
                <a:srgbClr val="FF0000"/>
              </a:solidFill>
            </a:endParaRPr>
          </a:p>
          <a:p>
            <a:r>
              <a:rPr lang="en-GB" b="1"/>
              <a:t>1 - 4 (Low):</a:t>
            </a:r>
            <a:r>
              <a:rPr lang="en-GB"/>
              <a:t> Monitor.</a:t>
            </a:r>
          </a:p>
          <a:p>
            <a:r>
              <a:rPr lang="en-GB" b="1"/>
              <a:t>5 - 12 (Medium): </a:t>
            </a:r>
            <a:r>
              <a:rPr lang="en-GB"/>
              <a:t>Needs a Plan.</a:t>
            </a:r>
          </a:p>
          <a:p>
            <a:r>
              <a:rPr lang="en-GB" b="1"/>
              <a:t>15-25 (High):</a:t>
            </a:r>
            <a:r>
              <a:rPr lang="en-GB"/>
              <a:t> Requires immediate mitigation or test plan.</a:t>
            </a:r>
          </a:p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34D38A-4F61-1811-D65E-58CA51929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205502"/>
              </p:ext>
            </p:extLst>
          </p:nvPr>
        </p:nvGraphicFramePr>
        <p:xfrm>
          <a:off x="728560" y="1440371"/>
          <a:ext cx="11216731" cy="750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721">
                  <a:extLst>
                    <a:ext uri="{9D8B030D-6E8A-4147-A177-3AD203B41FA5}">
                      <a16:colId xmlns:a16="http://schemas.microsoft.com/office/drawing/2014/main" val="3743172580"/>
                    </a:ext>
                  </a:extLst>
                </a:gridCol>
                <a:gridCol w="1343887">
                  <a:extLst>
                    <a:ext uri="{9D8B030D-6E8A-4147-A177-3AD203B41FA5}">
                      <a16:colId xmlns:a16="http://schemas.microsoft.com/office/drawing/2014/main" val="2787253486"/>
                    </a:ext>
                  </a:extLst>
                </a:gridCol>
                <a:gridCol w="2791405">
                  <a:extLst>
                    <a:ext uri="{9D8B030D-6E8A-4147-A177-3AD203B41FA5}">
                      <a16:colId xmlns:a16="http://schemas.microsoft.com/office/drawing/2014/main" val="1248510872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1636724309"/>
                    </a:ext>
                  </a:extLst>
                </a:gridCol>
                <a:gridCol w="1039090">
                  <a:extLst>
                    <a:ext uri="{9D8B030D-6E8A-4147-A177-3AD203B41FA5}">
                      <a16:colId xmlns:a16="http://schemas.microsoft.com/office/drawing/2014/main" val="2069697128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640157157"/>
                    </a:ext>
                  </a:extLst>
                </a:gridCol>
                <a:gridCol w="3016065">
                  <a:extLst>
                    <a:ext uri="{9D8B030D-6E8A-4147-A177-3AD203B41FA5}">
                      <a16:colId xmlns:a16="http://schemas.microsoft.com/office/drawing/2014/main" val="2273363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latin typeface="Arial"/>
                        </a:rPr>
                        <a:t>Ref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Arial"/>
                        </a:rPr>
                        <a:t>Risk Category</a:t>
                      </a:r>
                      <a:endParaRPr lang="en-US" b="1" i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Arial"/>
                        </a:rPr>
                        <a:t>Risk Description / Threat</a:t>
                      </a:r>
                    </a:p>
                    <a:p>
                      <a:pPr lvl="0">
                        <a:buNone/>
                      </a:pPr>
                      <a:endParaRPr lang="en-US" b="1" i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Arial"/>
                        </a:rPr>
                        <a:t>Likelihood (1 – 5)</a:t>
                      </a:r>
                      <a:endParaRPr lang="en-US" b="1" i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Arial"/>
                        </a:rPr>
                        <a:t>Impact (1 –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Arial"/>
                        </a:rPr>
                        <a:t>Total Score </a:t>
                      </a:r>
                    </a:p>
                    <a:p>
                      <a:pPr lvl="0">
                        <a:buNone/>
                      </a:pPr>
                      <a:r>
                        <a:rPr lang="en-US" b="1" i="0">
                          <a:latin typeface="Arial"/>
                        </a:rPr>
                        <a:t>(L *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Arial"/>
                        </a:rPr>
                        <a:t>Proposed Mitigation for Sprint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7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R01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Incorrect server or application configuration may expose sensitive student data and/or create security vulnerabilities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Apply secure configuration standards by reviewing server, database and application settings and ensure only required ports and permissions are enabled.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149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Franklin Gothic Book"/>
                        </a:rPr>
                        <a:t>R02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breach exposing financial and personal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 sensitive information by encrypting stored data and add levels with different permissions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609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R03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Attacks on database done by SQL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parameterized/prepared statements and validate user input before it reaches the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747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R04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 passwords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 use weak passwords causing them to get guessed very easily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Enforce strong password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120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R05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Phishing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Phishing attacks that target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email verification, login alerts for suspicious activity </a:t>
                      </a:r>
                      <a:r>
                        <a:rPr lang="en-US" err="1"/>
                        <a:t>etc</a:t>
                      </a:r>
                      <a:r>
                        <a:rPr lang="en-US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68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569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4B1E069-E568-E3B1-18CB-F3FFBFA830A3}"/>
              </a:ext>
            </a:extLst>
          </p:cNvPr>
          <p:cNvSpPr txBox="1"/>
          <p:nvPr/>
        </p:nvSpPr>
        <p:spPr>
          <a:xfrm>
            <a:off x="1031862" y="109029"/>
            <a:ext cx="10819797" cy="160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Arial"/>
                <a:ea typeface="+mn-lt"/>
                <a:cs typeface="+mn-lt"/>
              </a:rPr>
              <a:t>Identify 3-5 Key Risks Specific to Your Role that Could Affect the Final Project. </a:t>
            </a:r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714865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0</TotalTime>
  <Words>311</Words>
  <Application>Microsoft Office PowerPoint</Application>
  <PresentationFormat>Widescreen</PresentationFormat>
  <Paragraphs>67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Aharoni</vt:lpstr>
      <vt:lpstr>Arial</vt:lpstr>
      <vt:lpstr>Franklin Gothic Book</vt:lpstr>
      <vt:lpstr>Google Sans Text</vt:lpstr>
      <vt:lpstr>Crop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Krukrubo, Lawrence</dc:creator>
  <cp:lastModifiedBy>John Manfred Preddy</cp:lastModifiedBy>
  <cp:revision>3</cp:revision>
  <dcterms:created xsi:type="dcterms:W3CDTF">2025-12-22T20:48:00Z</dcterms:created>
  <dcterms:modified xsi:type="dcterms:W3CDTF">2026-03-16T18:41:06Z</dcterms:modified>
</cp:coreProperties>
</file>