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</p:sldIdLst>
  <p:sldSz cx="12192000" cy="6858000"/>
  <p:notesSz cx="6858000" cy="9144000"/>
  <p:defaultTextStyle>
    <a:defPPr>
      <a:defRPr lang="en-GB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E2DB41-53D1-4E60-A116-B0FD001866C5}" v="1793" dt="2026-02-17T17:53:47.96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0568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3814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82611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999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2/17/2026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00731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2/17/2026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04969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2/17/2026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20986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10158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2/17/2026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6142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78066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02893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2/17/2026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2821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3" r:id="rId1"/>
    <p:sldLayoutId id="2147483682" r:id="rId2"/>
    <p:sldLayoutId id="2147483681" r:id="rId3"/>
    <p:sldLayoutId id="2147483680" r:id="rId4"/>
    <p:sldLayoutId id="2147483679" r:id="rId5"/>
    <p:sldLayoutId id="2147483678" r:id="rId6"/>
    <p:sldLayoutId id="2147483677" r:id="rId7"/>
    <p:sldLayoutId id="2147483676" r:id="rId8"/>
    <p:sldLayoutId id="2147483675" r:id="rId9"/>
    <p:sldLayoutId id="2147483674" r:id="rId10"/>
    <p:sldLayoutId id="214748367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14D27876-614E-CCD5-5142-A650DBF0B0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319DFF7-1ABC-97AF-C9B4-0DC0F656E5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4075079"/>
              </p:ext>
            </p:extLst>
          </p:nvPr>
        </p:nvGraphicFramePr>
        <p:xfrm>
          <a:off x="1" y="1"/>
          <a:ext cx="12214314" cy="745193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1955">
                  <a:extLst>
                    <a:ext uri="{9D8B030D-6E8A-4147-A177-3AD203B41FA5}">
                      <a16:colId xmlns:a16="http://schemas.microsoft.com/office/drawing/2014/main" val="3293058153"/>
                    </a:ext>
                  </a:extLst>
                </a:gridCol>
                <a:gridCol w="1807238">
                  <a:extLst>
                    <a:ext uri="{9D8B030D-6E8A-4147-A177-3AD203B41FA5}">
                      <a16:colId xmlns:a16="http://schemas.microsoft.com/office/drawing/2014/main" val="2897831448"/>
                    </a:ext>
                  </a:extLst>
                </a:gridCol>
                <a:gridCol w="2313358">
                  <a:extLst>
                    <a:ext uri="{9D8B030D-6E8A-4147-A177-3AD203B41FA5}">
                      <a16:colId xmlns:a16="http://schemas.microsoft.com/office/drawing/2014/main" val="329572025"/>
                    </a:ext>
                  </a:extLst>
                </a:gridCol>
                <a:gridCol w="985691">
                  <a:extLst>
                    <a:ext uri="{9D8B030D-6E8A-4147-A177-3AD203B41FA5}">
                      <a16:colId xmlns:a16="http://schemas.microsoft.com/office/drawing/2014/main" val="3099563950"/>
                    </a:ext>
                  </a:extLst>
                </a:gridCol>
                <a:gridCol w="1327665">
                  <a:extLst>
                    <a:ext uri="{9D8B030D-6E8A-4147-A177-3AD203B41FA5}">
                      <a16:colId xmlns:a16="http://schemas.microsoft.com/office/drawing/2014/main" val="2441811851"/>
                    </a:ext>
                  </a:extLst>
                </a:gridCol>
                <a:gridCol w="1085467">
                  <a:extLst>
                    <a:ext uri="{9D8B030D-6E8A-4147-A177-3AD203B41FA5}">
                      <a16:colId xmlns:a16="http://schemas.microsoft.com/office/drawing/2014/main" val="2672346467"/>
                    </a:ext>
                  </a:extLst>
                </a:gridCol>
                <a:gridCol w="1573977">
                  <a:extLst>
                    <a:ext uri="{9D8B030D-6E8A-4147-A177-3AD203B41FA5}">
                      <a16:colId xmlns:a16="http://schemas.microsoft.com/office/drawing/2014/main" val="364155659"/>
                    </a:ext>
                  </a:extLst>
                </a:gridCol>
                <a:gridCol w="2168963">
                  <a:extLst>
                    <a:ext uri="{9D8B030D-6E8A-4147-A177-3AD203B41FA5}">
                      <a16:colId xmlns:a16="http://schemas.microsoft.com/office/drawing/2014/main" val="3975609482"/>
                    </a:ext>
                  </a:extLst>
                </a:gridCol>
              </a:tblGrid>
              <a:tr h="1166817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Ref ID</a:t>
                      </a:r>
                      <a:endParaRPr lang="en-US" sz="1300" b="1" i="0" dirty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09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8D8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Risk Category</a:t>
                      </a:r>
                      <a:endParaRPr lang="en-US" sz="1300" b="1" i="0" dirty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09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8D8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Risk Description / Threat</a:t>
                      </a:r>
                      <a:endParaRPr lang="en-US" sz="1300" b="1" i="0" dirty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09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8D8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Likelihood (1 – 5)</a:t>
                      </a:r>
                      <a:endParaRPr lang="en-US" sz="1300" b="1" i="0" dirty="0">
                        <a:solidFill>
                          <a:srgbClr val="FFFFFF"/>
                        </a:solidFill>
                        <a:effectLst/>
                        <a:latin typeface="Arial"/>
                      </a:endParaRP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09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8D8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Impact (1 – 5)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09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8D8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Total Score </a:t>
                      </a:r>
                    </a:p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(L * I)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09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8D86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300" b="1" i="0" dirty="0">
                          <a:solidFill>
                            <a:srgbClr val="FFFFFF"/>
                          </a:solidFill>
                          <a:effectLst/>
                          <a:latin typeface="Arial"/>
                        </a:rPr>
                        <a:t>Risk level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809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C8D86"/>
                    </a:solidFill>
                  </a:tcPr>
                </a:tc>
                <a:tc>
                  <a:txBody>
                    <a:bodyPr/>
                    <a:lstStyle/>
                    <a:p>
                      <a:pPr lvl="0" algn="l">
                        <a:lnSpc>
                          <a:spcPts val="2175"/>
                        </a:lnSpc>
                        <a:buNone/>
                      </a:pPr>
                      <a:r>
                        <a:rPr lang="en-US" sz="1300" b="1" i="0" u="none" strike="noStrike" noProof="0" dirty="0">
                          <a:solidFill>
                            <a:srgbClr val="FFFFFF"/>
                          </a:solidFill>
                          <a:effectLst/>
                          <a:latin typeface="Arial"/>
                          <a:cs typeface="Arial"/>
                        </a:rPr>
                        <a:t>Proposed Mitigation for Sprint 2</a:t>
                      </a:r>
                      <a:endParaRPr lang="en-US" dirty="0"/>
                    </a:p>
                  </a:txBody>
                  <a:tcPr marL="68304" marR="68304" marT="34152" marB="34152" anchor="ctr"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18098">
                      <a:solidFill>
                        <a:srgbClr val="FFFFFF"/>
                      </a:solidFill>
                    </a:lnB>
                    <a:solidFill>
                      <a:srgbClr val="8C8D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5489981"/>
                  </a:ext>
                </a:extLst>
              </a:tr>
              <a:tr h="1125635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/>
                        </a:rPr>
                        <a:t>R01</a:t>
                      </a:r>
                      <a:endParaRPr lang="en-US" sz="1300" b="0" i="0" dirty="0">
                        <a:solidFill>
                          <a:srgbClr val="000000"/>
                        </a:solidFill>
                        <a:effectLst/>
                        <a:latin typeface="Franklin Gothic Book"/>
                      </a:endParaRP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09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300" dirty="0">
                          <a:effectLst/>
                        </a:rPr>
                        <a:t>Authentication failure/Account compromise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09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300" dirty="0">
                          <a:effectLst/>
                        </a:rPr>
                        <a:t>Unauthorized access because of weak passwords, brute force attacks or 2FA being bypassed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09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800" dirty="0">
                          <a:effectLst/>
                        </a:rPr>
                        <a:t>4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09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800" dirty="0">
                          <a:effectLst/>
                        </a:rPr>
                        <a:t>5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09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800" dirty="0">
                          <a:effectLst/>
                        </a:rPr>
                        <a:t>20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09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300" dirty="0">
                          <a:effectLst/>
                        </a:rPr>
                        <a:t>HIGH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809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GB" sz="1300" dirty="0">
                          <a:effectLst/>
                        </a:rPr>
                        <a:t>Enforce strong password policy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GB" sz="1300">
                          <a:effectLst/>
                        </a:rPr>
                        <a:t>Mandatory 2FA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GB" sz="1300" dirty="0">
                          <a:effectLst/>
                        </a:rPr>
                        <a:t>Lock account after 3 failed attempts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GB" sz="1300" dirty="0">
                          <a:effectLst/>
                        </a:rPr>
                        <a:t>Login rate limiter</a:t>
                      </a:r>
                    </a:p>
                  </a:txBody>
                  <a:tcPr marL="68304" marR="68304" marT="34152" marB="34152" anchor="ctr"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18098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DBD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7824522"/>
                  </a:ext>
                </a:extLst>
              </a:tr>
              <a:tr h="1304089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/>
                        </a:rPr>
                        <a:t>R02</a:t>
                      </a:r>
                      <a:endParaRPr lang="en-US" sz="1300" b="0" i="0" dirty="0">
                        <a:solidFill>
                          <a:srgbClr val="000000"/>
                        </a:solidFill>
                        <a:effectLst/>
                        <a:latin typeface="Franklin Gothic Book"/>
                      </a:endParaRP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300" dirty="0">
                          <a:effectLst/>
                        </a:rPr>
                        <a:t>Unauthorized Access to financial data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300" dirty="0">
                          <a:effectLst/>
                        </a:rPr>
                        <a:t>Users may gain access to other users' financial records due to improper access control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800">
                          <a:effectLst/>
                        </a:rPr>
                        <a:t>2</a:t>
                      </a:r>
                      <a:endParaRPr lang="en-GB" sz="1800" dirty="0">
                        <a:effectLst/>
                      </a:endParaRP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800" dirty="0">
                          <a:effectLst/>
                        </a:rPr>
                        <a:t>5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800" dirty="0">
                          <a:effectLst/>
                        </a:rPr>
                        <a:t>10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300" dirty="0">
                          <a:effectLst/>
                        </a:rPr>
                        <a:t>MEDIUM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GB" sz="1300">
                          <a:effectLst/>
                        </a:rPr>
                        <a:t>Strict backend user ID validation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GB" sz="1300" dirty="0">
                          <a:effectLst/>
                        </a:rPr>
                        <a:t>Role-based access control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GB" sz="1300" dirty="0">
                          <a:effectLst/>
                        </a:rPr>
                        <a:t>No direct database access from mobile app</a:t>
                      </a:r>
                    </a:p>
                  </a:txBody>
                  <a:tcPr marL="68304" marR="68304" marT="34152" marB="34152" anchor="ctr"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EEE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37119507"/>
                  </a:ext>
                </a:extLst>
              </a:tr>
              <a:tr h="947181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/>
                        </a:rPr>
                        <a:t>R03</a:t>
                      </a:r>
                      <a:endParaRPr lang="en-US" sz="1300" b="0" i="0" dirty="0">
                        <a:solidFill>
                          <a:srgbClr val="000000"/>
                        </a:solidFill>
                        <a:effectLst/>
                        <a:latin typeface="Franklin Gothic Book"/>
                      </a:endParaRP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300" dirty="0">
                          <a:effectLst/>
                        </a:rPr>
                        <a:t>API Interception (MITM attack)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300" dirty="0">
                          <a:effectLst/>
                        </a:rPr>
                        <a:t>Sensitive data that can be intercepted during communication between a mobile app and backend server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800" dirty="0">
                          <a:effectLst/>
                        </a:rPr>
                        <a:t>3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800" dirty="0">
                          <a:effectLst/>
                        </a:rPr>
                        <a:t>5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800" dirty="0">
                          <a:effectLst/>
                        </a:rPr>
                        <a:t>15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300" dirty="0">
                          <a:effectLst/>
                        </a:rPr>
                        <a:t>HIGH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GB" sz="1300" dirty="0">
                          <a:effectLst/>
                        </a:rPr>
                        <a:t>Secure backend configuration</a:t>
                      </a:r>
                    </a:p>
                  </a:txBody>
                  <a:tcPr marL="68304" marR="68304" marT="34152" marB="34152" anchor="ctr"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DBD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16866196"/>
                  </a:ext>
                </a:extLst>
              </a:tr>
              <a:tr h="1125635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/>
                        </a:rPr>
                        <a:t>R04</a:t>
                      </a:r>
                      <a:endParaRPr lang="en-US" sz="1300" b="0" i="0" dirty="0">
                        <a:solidFill>
                          <a:srgbClr val="000000"/>
                        </a:solidFill>
                        <a:effectLst/>
                        <a:latin typeface="Franklin Gothic Book"/>
                      </a:endParaRP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300" dirty="0">
                          <a:effectLst/>
                        </a:rPr>
                        <a:t>Points system manipulation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300" dirty="0">
                          <a:effectLst/>
                        </a:rPr>
                        <a:t>Users may manipulate client-side logic or API requests that can result in unfairly increasing ones points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800" dirty="0">
                          <a:effectLst/>
                        </a:rPr>
                        <a:t>3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800" dirty="0">
                          <a:effectLst/>
                        </a:rPr>
                        <a:t>4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800" dirty="0">
                          <a:effectLst/>
                        </a:rPr>
                        <a:t>12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300" dirty="0">
                          <a:effectLst/>
                        </a:rPr>
                        <a:t>MEDIUM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D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GB" sz="1300" dirty="0">
                          <a:effectLst/>
                        </a:rPr>
                        <a:t>All calculations done server side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GB" sz="1300" dirty="0">
                          <a:effectLst/>
                        </a:rPr>
                        <a:t>No trust in client-side </a:t>
                      </a:r>
                      <a:r>
                        <a:rPr lang="en-GB" sz="1300">
                          <a:effectLst/>
                        </a:rPr>
                        <a:t>logic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GB" sz="1300" dirty="0">
                          <a:effectLst/>
                        </a:rPr>
                        <a:t>All points transactions must be logged</a:t>
                      </a:r>
                    </a:p>
                  </a:txBody>
                  <a:tcPr marL="68304" marR="68304" marT="34152" marB="34152" anchor="ctr"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EEEE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46592305"/>
                  </a:ext>
                </a:extLst>
              </a:tr>
              <a:tr h="1125635">
                <a:tc>
                  <a:txBody>
                    <a:bodyPr/>
                    <a:lstStyle/>
                    <a:p>
                      <a:pPr algn="l" fontAlgn="base">
                        <a:lnSpc>
                          <a:spcPts val="2175"/>
                        </a:lnSpc>
                        <a:buNone/>
                      </a:pPr>
                      <a:r>
                        <a:rPr lang="en-US" sz="1300" b="1" i="0" u="none" strike="noStrike" dirty="0">
                          <a:solidFill>
                            <a:srgbClr val="000000"/>
                          </a:solidFill>
                          <a:effectLst/>
                          <a:latin typeface="Franklin Gothic Book"/>
                        </a:rPr>
                        <a:t>R05</a:t>
                      </a:r>
                      <a:endParaRPr lang="en-US" sz="1300" b="0" i="0" dirty="0">
                        <a:solidFill>
                          <a:srgbClr val="000000"/>
                        </a:solidFill>
                        <a:effectLst/>
                        <a:latin typeface="Franklin Gothic Book"/>
                      </a:endParaRP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300" dirty="0">
                          <a:effectLst/>
                        </a:rPr>
                        <a:t>Sensitive data exposure from mobile storage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fontAlgn="t">
                        <a:buNone/>
                      </a:pPr>
                      <a:r>
                        <a:rPr lang="en-GB" sz="1300" dirty="0">
                          <a:effectLst/>
                        </a:rPr>
                        <a:t>Sessions tokens and/or sensitive data may be extracted from a compromised or jailbroken device.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800" dirty="0">
                          <a:effectLst/>
                        </a:rPr>
                        <a:t>2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800" dirty="0">
                          <a:effectLst/>
                        </a:rPr>
                        <a:t>4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800" dirty="0">
                          <a:effectLst/>
                        </a:rPr>
                        <a:t>8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en-GB" sz="1300" dirty="0">
                          <a:effectLst/>
                        </a:rPr>
                        <a:t>MEDIUM</a:t>
                      </a:r>
                    </a:p>
                  </a:txBody>
                  <a:tcPr marL="68304" marR="68304" marT="34152" marB="34152" anchor="ctr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BDBD9"/>
                    </a:solidFill>
                  </a:tcPr>
                </a:tc>
                <a:tc>
                  <a:txBody>
                    <a:bodyPr/>
                    <a:lstStyle/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GB" sz="1300" dirty="0">
                          <a:effectLst/>
                        </a:rPr>
                        <a:t>Do not store passwords locally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GB" sz="1300">
                          <a:effectLst/>
                        </a:rPr>
                        <a:t>Clear session tokens on logout</a:t>
                      </a:r>
                    </a:p>
                    <a:p>
                      <a:pPr marL="285750" lvl="0" indent="-285750">
                        <a:buFont typeface="Arial"/>
                        <a:buChar char="•"/>
                      </a:pPr>
                      <a:r>
                        <a:rPr lang="en-GB" sz="1300" dirty="0">
                          <a:effectLst/>
                        </a:rPr>
                        <a:t>Encrypt cached sensitive data</a:t>
                      </a:r>
                    </a:p>
                  </a:txBody>
                  <a:tcPr marL="68304" marR="68304" marT="34152" marB="34152" anchor="ctr">
                    <a:lnL w="9524">
                      <a:solidFill>
                        <a:srgbClr val="FFFFFF"/>
                      </a:solidFill>
                    </a:lnL>
                    <a:lnR w="9524">
                      <a:solidFill>
                        <a:srgbClr val="FFFFFF"/>
                      </a:solidFill>
                    </a:lnR>
                    <a:lnT w="9524">
                      <a:solidFill>
                        <a:srgbClr val="FFFFFF"/>
                      </a:solidFill>
                    </a:lnT>
                    <a:lnB w="9524">
                      <a:solidFill>
                        <a:srgbClr val="FFFFFF"/>
                      </a:solidFill>
                    </a:lnB>
                    <a:solidFill>
                      <a:srgbClr val="DBDB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2436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VanillaVTI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106</cp:revision>
  <dcterms:created xsi:type="dcterms:W3CDTF">2026-02-17T17:32:41Z</dcterms:created>
  <dcterms:modified xsi:type="dcterms:W3CDTF">2026-02-17T17:55:29Z</dcterms:modified>
</cp:coreProperties>
</file>